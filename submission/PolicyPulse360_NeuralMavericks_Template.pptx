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yugrajmangate-dev/neural-mavericks-policypulse36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Neural Mavericks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Customer 360 and Next Best Action — PolicyPulse 360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Yugraj Prabhakar Mangate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400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400" b="0">
                <a:solidFill>
                  <a:srgbClr val="202729"/>
                </a:solidFill>
                <a:latin typeface="Manrope SemiBold"/>
              </a:rPr>
              <a:t> 01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ct val="55000"/>
              <a:buNone/>
            </a:pPr>
            <a:r>
              <a:rPr sz="2100" b="1">
                <a:solidFill>
                  <a:srgbClr val="202729"/>
                </a:solidFill>
                <a:latin typeface="Manrope"/>
              </a:rPr>
              <a:t>1. Problem Brief</a:t>
            </a:r>
            <a:endParaRPr b="1" i="1" sz="1442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Business problem: </a:t>
            </a:r>
            <a:r>
              <a:rPr sz="1600" b="0">
                <a:solidFill>
                  <a:srgbClr val="202729"/>
                </a:solidFill>
                <a:latin typeface="Manrope"/>
              </a:rPr>
              <a:t>Indian insurers run policy admin, claims, billing and the call centre as separate systems, so churn is discovered at lapse and offers are generic.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Persona: </a:t>
            </a:r>
            <a:r>
              <a:rPr sz="1600" b="0">
                <a:solidFill>
                  <a:srgbClr val="202729"/>
                </a:solidFill>
                <a:latin typeface="Manrope"/>
              </a:rPr>
              <a:t>retention agent / relationship manager at a multi-line Indian insurer (Motor · Health · Life · Home).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Pain point today: </a:t>
            </a:r>
            <a:r>
              <a:rPr sz="1600" b="0">
                <a:solidFill>
                  <a:srgbClr val="202729"/>
                </a:solidFill>
                <a:latin typeface="Manrope"/>
              </a:rPr>
              <a:t>~20 min per customer across 4+ screens and call recordings. The strongest churn signals ("I'll port my policy", "claim pending 45 days") are buried in unstructured transcripts.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How PolicyPulse 360 improves it: </a:t>
            </a:r>
            <a:r>
              <a:rPr sz="1600" b="0">
                <a:solidFill>
                  <a:srgbClr val="202729"/>
                </a:solidFill>
                <a:latin typeface="Manrope"/>
              </a:rPr>
              <a:t>one 360 card that unifies all touchpoints, an explainable churn score, and a next best action with cited call evidence plus a ready-to-send message.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Industry context: </a:t>
            </a:r>
            <a:r>
              <a:rPr sz="1600" b="0">
                <a:solidFill>
                  <a:srgbClr val="202729"/>
                </a:solidFill>
                <a:latin typeface="Manrope"/>
              </a:rPr>
              <a:t>high lapse at renewal, aggregator price-shopping, health portability and IRDAI grievance norms make proactive, explainable retention critical.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s3 title"/>
          <p:cNvSpPr txBox="1"/>
          <p:nvPr/>
        </p:nvSpPr>
        <p:spPr>
          <a:xfrm>
            <a:off x="329184" y="566928"/>
            <a:ext cx="8485632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2. Architecture Diagram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667" y="1024128"/>
            <a:ext cx="5690664" cy="3218687"/>
          </a:xfrm>
          <a:prstGeom prst="rect">
            <a:avLst/>
          </a:prstGeom>
        </p:spPr>
      </p:pic>
      <p:sp>
        <p:nvSpPr>
          <p:cNvPr id="72" name="s3 caption"/>
          <p:cNvSpPr txBox="1"/>
          <p:nvPr/>
        </p:nvSpPr>
        <p:spPr>
          <a:xfrm>
            <a:off x="329184" y="4279392"/>
            <a:ext cx="8485632" cy="6766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CoCo CLI skills: </a:t>
            </a:r>
            <a:r>
              <a:rPr sz="1400" b="0">
                <a:solidFill>
                  <a:srgbClr val="202729"/>
                </a:solidFill>
                <a:latin typeface="Manrope"/>
              </a:rPr>
              <a:t>$c360-unify → $interaction-intel → $next-best-action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customers, policies, claims, payments   ·   </a:t>
            </a:r>
            <a:r>
              <a:rPr sz="1400" b="1">
                <a:solidFill>
                  <a:srgbClr val="202729"/>
                </a:solidFill>
                <a:latin typeface="Manrope"/>
              </a:rPr>
              <a:t>Unstructured: </a:t>
            </a:r>
            <a:r>
              <a:rPr sz="1400" b="0">
                <a:solidFill>
                  <a:srgbClr val="202729"/>
                </a:solidFill>
                <a:latin typeface="Manrope"/>
              </a:rPr>
              <a:t>call transcripts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s4 impact"/>
          <p:cNvSpPr txBox="1"/>
          <p:nvPr/>
        </p:nvSpPr>
        <p:spPr>
          <a:xfrm>
            <a:off x="329184" y="566928"/>
            <a:ext cx="8485632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2100" b="1">
                <a:solidFill>
                  <a:srgbClr val="202729"/>
                </a:solidFill>
                <a:latin typeface="Manrope"/>
              </a:rPr>
              <a:t>3. Impact Statement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Measured on synthetic data: </a:t>
            </a:r>
            <a:r>
              <a:rPr sz="1600" b="0">
                <a:solidFill>
                  <a:srgbClr val="202729"/>
                </a:solidFill>
                <a:latin typeface="Manrope"/>
              </a:rPr>
              <a:t>78 of 300 customers (26%) flagged High risk, catching 87% of truly at-risk customers (65/75) at 83% precision.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Measured on synthetic data: </a:t>
            </a:r>
            <a:r>
              <a:rPr sz="1600" b="0">
                <a:solidFill>
                  <a:srgbClr val="202729"/>
                </a:solidFill>
                <a:latin typeface="Manrope"/>
              </a:rPr>
              <a:t>₹37.0 L of ₹1.45 Cr annual premium (25%) sits in the High-risk band; 43 High-risk renewals are due within 30 days.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600" b="0">
                <a:solidFill>
                  <a:srgbClr val="202729"/>
                </a:solidFill>
                <a:latin typeface="Manrope"/>
              </a:rPr>
              <a:t>agent prep time ~20 min → under 30 s per customer (4 systems + recordings → one 360 card).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Projected: </a:t>
            </a:r>
            <a:r>
              <a:rPr sz="1600" b="0">
                <a:solidFill>
                  <a:srgbClr val="202729"/>
                </a:solidFill>
                <a:latin typeface="Manrope"/>
              </a:rPr>
              <a:t>saving 20% of High-risk premium = ₹7.4 L per 300 customers, about ₹247 Cr per 1M customers.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Scalability: </a:t>
            </a:r>
            <a:r>
              <a:rPr sz="1600" b="0">
                <a:solidFill>
                  <a:srgbClr val="202729"/>
                </a:solidFill>
                <a:latin typeface="Manrope"/>
              </a:rPr>
              <a:t>incremental Cortex enrichment and an LLM capped to high-value customers, so cost tracks new calls, not book size. Runs on an XS warehouse with auto-suspend.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202729"/>
                </a:solidFill>
                <a:latin typeface="Manrope"/>
              </a:rPr>
              <a:t>Beyond the demo: </a:t>
            </a:r>
            <a:r>
              <a:rPr sz="1600" b="0">
                <a:solidFill>
                  <a:srgbClr val="202729"/>
                </a:solidFill>
                <a:latin typeface="Manrope"/>
              </a:rPr>
              <a:t>portable skills on real RAW tables; next up are AI_TRANSCRIBE for call audio, dynamic tables for real-time scoring, and CRM / WhatsApp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29184" y="4224528"/>
            <a:ext cx="8485632" cy="73151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Clr>
                <a:srgbClr val="000000"/>
              </a:buClr>
              <a:buSzPts val="935"/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GitHub: </a:t>
            </a:r>
            <a:r>
              <a:rPr sz="1400" b="0">
                <a:solidFill>
                  <a:srgbClr val="1C5CAB"/>
                </a:solidFill>
                <a:latin typeface="Manrope"/>
                <a:hlinkClick r:id="rId4"/>
              </a:rPr>
              <a:t>https://github.com/yugrajmangate-dev/neural-mavericks-policypulse360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indent="0"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  <a:latin typeface="Manrope"/>
              </a:rPr>
              <a:t>Live app: </a:t>
            </a:r>
            <a:r>
              <a:rPr sz="1400" b="0">
                <a:solidFill>
                  <a:srgbClr val="202729"/>
                </a:solidFill>
                <a:latin typeface="Manrope"/>
              </a:rPr>
              <a:t>&lt;URL&gt;      </a:t>
            </a:r>
            <a:r>
              <a:rPr sz="1400" b="1">
                <a:solidFill>
                  <a:srgbClr val="202729"/>
                </a:solidFill>
                <a:latin typeface="Manrope"/>
              </a:rPr>
              <a:t>Demo video: </a:t>
            </a:r>
            <a:r>
              <a:rPr sz="1400" b="0">
                <a:solidFill>
                  <a:srgbClr val="202729"/>
                </a:solidFill>
                <a:latin typeface="Manrope"/>
              </a:rPr>
              <a:t>&lt;URL&gt;</a:t>
            </a:r>
          </a:p>
        </p:txBody>
      </p:sp>
      <p:sp>
        <p:nvSpPr>
          <p:cNvPr id="81" name="s5 walkthrough"/>
          <p:cNvSpPr txBox="1"/>
          <p:nvPr/>
        </p:nvSpPr>
        <p:spPr>
          <a:xfrm>
            <a:off x="329184" y="566928"/>
            <a:ext cx="8485632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950" b="1">
                <a:solidFill>
                  <a:srgbClr val="202729"/>
                </a:solidFill>
                <a:latin typeface="Manrope"/>
              </a:rPr>
              <a:t>Additional Slide: Solution Walkthrough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Customer 360 + NBA: </a:t>
            </a:r>
            <a:r>
              <a:rPr sz="1500" b="0">
                <a:solidFill>
                  <a:srgbClr val="202729"/>
                </a:solidFill>
                <a:latin typeface="Manrope"/>
              </a:rPr>
              <a:t>explainable risk gauge and drivers, next best action with cited call IDs, a copyable message, and a call timeline with AI summaries.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Portfolio: </a:t>
            </a:r>
            <a:r>
              <a:rPr sz="1500" b="0">
                <a:solidFill>
                  <a:srgbClr val="202729"/>
                </a:solidFill>
                <a:latin typeface="Manrope"/>
              </a:rPr>
              <a:t>₹ premium at risk by product × risk band, intent × sentiment, the 90-day renewal pipeline, and a ranked call list.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Ask PolicyPulse: </a:t>
            </a:r>
            <a:r>
              <a:rPr sz="1500" b="0">
                <a:solidFill>
                  <a:srgbClr val="202729"/>
                </a:solidFill>
                <a:latin typeface="Manrope"/>
              </a:rPr>
              <a:t>plain-English questions answered with Cortex AI_COMPLETE text-to-SQL (read-only). How it works: architecture + skills.</a:t>
            </a:r>
          </a:p>
          <a:p>
            <a:pPr marL="228600" indent="-228600"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202729"/>
                </a:solidFill>
                <a:latin typeface="Manrope"/>
              </a:rPr>
              <a:t>Cortex used: </a:t>
            </a:r>
            <a:r>
              <a:rPr sz="1500" b="0">
                <a:solidFill>
                  <a:srgbClr val="202729"/>
                </a:solidFill>
                <a:latin typeface="Manrope"/>
              </a:rPr>
              <a:t>CORTEX.SENTIMENT · AI_CLASSIFY · AI_COMPLETE · Cortex Search · CLASSIFY_TEXT / SUMMARIZE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